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3" r:id="rId6"/>
    <p:sldId id="259" r:id="rId7"/>
    <p:sldId id="262" r:id="rId8"/>
    <p:sldId id="261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49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EF60C-E60E-7384-FE8D-6F961CA20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50FD9A-11E4-FB83-79F6-0AB3EB1D2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A1DC-45A6-040D-F5AC-9F6B0CB6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395FB-C6A4-2443-D8F0-D98CF509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99F10-C59C-5EA1-B94B-42AC0EEB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58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D5F43-5CA6-C5A6-CFC8-B153FF4C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5747F-752F-36F6-BF02-9B9E3043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2DB7D6-28D6-1F83-AE17-195CC07D5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D5A58-BA61-49A6-C925-356C4725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6E984F-7B2E-3602-9242-67CCC241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14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E4C14-6E4E-3191-6BD5-689DC4523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DE9F32-8ABB-8E94-6D0C-27DAA15D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D1ED25-A2E1-62FB-0921-B0A694C4C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778E3-6B96-A5D8-B50B-CE94FE2D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F2B8C1-ACC7-2F61-8A49-CB65D318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252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21E04-639F-31C8-8117-1EC6963C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22508-05E2-21BD-5634-B53611044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031068-F390-3283-3CF9-92E405D8B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1AC59C-A0AD-1BCF-B63C-0FA35EFB6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FC0CCA-06C0-6C22-C556-0A007504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C0DFD-8D1D-77FD-2C5D-3B1E14BC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429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93466-43E5-DE9C-BD9B-947184478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18C5CD-0ED9-2B93-CA4B-A10717E00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5C88B-2446-B2C0-AF27-CB1F0EBC5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0252BA-46A1-8A2D-90A9-CFB4AE196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D9AC19-0A4D-342B-1D52-299612574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B350BF-A4B9-CEBA-3D1D-F0129140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C75AFF-6423-1E86-A56E-910C3838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57FEA4-98CD-5DDB-5D38-B2758A5B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88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47097-BB92-C20C-B0EC-26E1AC2D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2B8362-AE83-56B5-8F8B-57CBE8F7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C4F7EF-521B-DEC7-4A17-135B8BD8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9C4CC3-3B08-EFF3-F34D-CFB17FF6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47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67C114-FCC2-1E1A-76DA-2C0786F5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C08BF1-24FB-ABBB-3344-FDB7CAEA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B41F11-21E8-0059-4580-0AA8495E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40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7655C-D72A-590D-EA83-5D1BFE70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9813F2-AE3A-DCD9-6262-7416D5454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7625BD-8B67-E56A-527F-447FB7F65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FB552C-9648-32EB-E36C-CA047304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6E118C-F55C-EA02-560A-371E5FDE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D6D46B-E98E-C5C9-C133-083F4FD5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34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7F285-9237-F06E-C22F-EE49929F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7833DF-3E3A-25E1-29D1-587787643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D5F86-7894-5280-3280-01E3C1A79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C4E54E-08CA-38CF-3999-6423529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38393-0D0D-043A-89E9-79E7BE36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668A45-33F9-9BED-0EA1-133AB9A0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24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D0749-A5C5-ADBB-39AC-4CD7F0AF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411E11-B5B4-888D-254C-154EACCD6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6CBCC-8F80-67EE-202B-0CF8872B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EAF59-82B5-2D16-D8DC-518C72F8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8EE434-642B-6024-2BD8-12F2FFB3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48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DCA112-FA88-D4DE-7551-BC5642D55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C7CA4C-1BA3-BBA9-58D7-0BE22E13E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3CF58-D992-2FA7-0CFB-BDFEBA76B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E6A7D4-B062-9576-D764-0739063B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705636-E0F5-9681-2BEB-3AD9A5F1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37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BEA752-606A-1366-2F22-E77BE749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97452F-6732-D776-9FDE-00B8DFB3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683D5D-4A30-7853-9BA0-835C97F2E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C99BE-0BB2-4732-AAE2-EE0DB753B090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D3D3EB-96CF-32D8-755A-9F9D44830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1E898-262F-4EB5-700A-0C23DCEFE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E149B-295C-46AF-8961-6203A3289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65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E7F9A-3FCC-D036-3153-5AA90AB1B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560065E-04D8-0A6D-F12D-B87813386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9017280-4BE8-A6D4-BB26-F9BCB7F12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67913"/>
              </p:ext>
            </p:extLst>
          </p:nvPr>
        </p:nvGraphicFramePr>
        <p:xfrm>
          <a:off x="2032000" y="719666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549592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053150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286794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28625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8~10W RF MHz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250</a:t>
                      </a:r>
                      <a:r>
                        <a:rPr lang="zh-CN" altLang="en-US" dirty="0"/>
                        <a:t>欧负载电压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长边边缘 磁场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89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6.78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65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6.28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《1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-5dbm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830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6.38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-4.5~-4dbm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360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6.48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16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6.58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74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6.68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652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6.88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677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6.98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1.66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72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7.08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5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7.18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1.71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69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7.28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29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6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356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47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2DB8B-15D2-BB8E-E899-DB3D8B775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5198AF-DF37-C955-14F8-BC720808C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249986"/>
          </a:xfrm>
        </p:spPr>
        <p:txBody>
          <a:bodyPr>
            <a:normAutofit fontScale="55000" lnSpcReduction="20000"/>
          </a:bodyPr>
          <a:lstStyle/>
          <a:p>
            <a:r>
              <a:rPr lang="en-US" altLang="zh-CN" dirty="0"/>
              <a:t>RF 10W; 6.78MHz</a:t>
            </a:r>
          </a:p>
          <a:p>
            <a:r>
              <a:rPr lang="en-US" altLang="zh-CN" b="1" dirty="0"/>
              <a:t>3-turns + 2-turns repeater</a:t>
            </a:r>
            <a:r>
              <a:rPr lang="zh-CN" altLang="en-US" dirty="0"/>
              <a:t>（</a:t>
            </a:r>
            <a:r>
              <a:rPr lang="en-US" altLang="zh-CN" dirty="0"/>
              <a:t>20cm distances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en-US" altLang="zh-CN" b="1" dirty="0"/>
              <a:t>VS.</a:t>
            </a:r>
            <a:r>
              <a:rPr lang="en-US" altLang="zh-CN" dirty="0"/>
              <a:t> </a:t>
            </a:r>
            <a:r>
              <a:rPr lang="en-US" altLang="zh-CN" b="1" dirty="0"/>
              <a:t>2-turns Tx </a:t>
            </a:r>
          </a:p>
          <a:p>
            <a:r>
              <a:rPr lang="en-US" altLang="zh-CN" b="1" dirty="0"/>
              <a:t>12*15mm</a:t>
            </a:r>
            <a:r>
              <a:rPr lang="en-US" altLang="zh-CN" dirty="0"/>
              <a:t> Rx </a:t>
            </a:r>
            <a:r>
              <a:rPr lang="en-US" altLang="zh-CN" sz="4400" b="1" dirty="0" err="1"/>
              <a:t>centre</a:t>
            </a:r>
            <a:r>
              <a:rPr lang="en-US" altLang="zh-CN" dirty="0"/>
              <a:t> transferred power</a:t>
            </a:r>
          </a:p>
          <a:p>
            <a:endParaRPr lang="en-US" altLang="zh-CN" dirty="0"/>
          </a:p>
          <a:p>
            <a:r>
              <a:rPr lang="en-US" altLang="zh-CN" dirty="0"/>
              <a:t>3.1V  vs. 2.25V (500 oms loads)  -&gt; </a:t>
            </a:r>
            <a:r>
              <a:rPr lang="en-US" altLang="zh-CN" b="1" dirty="0">
                <a:solidFill>
                  <a:srgbClr val="C00000"/>
                </a:solidFill>
              </a:rPr>
              <a:t>20mW vs. 10mW</a:t>
            </a:r>
          </a:p>
          <a:p>
            <a:r>
              <a:rPr lang="en-US" altLang="zh-CN" b="1" dirty="0">
                <a:solidFill>
                  <a:srgbClr val="C00000"/>
                </a:solidFill>
              </a:rPr>
              <a:t>Repeater better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0A6584-DD1F-EB0B-FF36-BED0DEE55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065462" y="579664"/>
            <a:ext cx="4273170" cy="5698672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CB127A-95E3-0D47-5581-E4226DAB9617}"/>
              </a:ext>
            </a:extLst>
          </p:cNvPr>
          <p:cNvSpPr txBox="1">
            <a:spLocks/>
          </p:cNvSpPr>
          <p:nvPr/>
        </p:nvSpPr>
        <p:spPr>
          <a:xfrm>
            <a:off x="637903" y="4242889"/>
            <a:ext cx="5257800" cy="224998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RF 10W; 6.78MHz</a:t>
            </a:r>
          </a:p>
          <a:p>
            <a:r>
              <a:rPr lang="en-US" altLang="zh-CN" b="1" dirty="0"/>
              <a:t>3-turns + 2-turns repeater</a:t>
            </a:r>
            <a:r>
              <a:rPr lang="zh-CN" altLang="en-US" dirty="0"/>
              <a:t>（</a:t>
            </a:r>
            <a:r>
              <a:rPr lang="en-US" altLang="zh-CN" dirty="0"/>
              <a:t>5cm distances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r>
              <a:rPr lang="en-US" altLang="zh-CN" b="1" dirty="0"/>
              <a:t>VS.</a:t>
            </a:r>
            <a:r>
              <a:rPr lang="en-US" altLang="zh-CN" dirty="0"/>
              <a:t> </a:t>
            </a:r>
            <a:r>
              <a:rPr lang="en-US" altLang="zh-CN" b="1" dirty="0"/>
              <a:t>3-turns</a:t>
            </a:r>
            <a:r>
              <a:rPr lang="en-US" altLang="zh-CN" dirty="0"/>
              <a:t> Tx </a:t>
            </a:r>
          </a:p>
          <a:p>
            <a:r>
              <a:rPr lang="en-US" altLang="zh-CN" b="1" dirty="0"/>
              <a:t>12*20mm</a:t>
            </a:r>
            <a:r>
              <a:rPr lang="en-US" altLang="zh-CN" dirty="0"/>
              <a:t> Rx </a:t>
            </a:r>
            <a:r>
              <a:rPr lang="en-US" altLang="zh-CN" sz="4200" b="1" dirty="0" err="1"/>
              <a:t>centre</a:t>
            </a:r>
            <a:r>
              <a:rPr lang="en-US" altLang="zh-CN" sz="4200" dirty="0"/>
              <a:t> </a:t>
            </a:r>
            <a:r>
              <a:rPr lang="en-US" altLang="zh-CN" dirty="0"/>
              <a:t>transferred power</a:t>
            </a:r>
          </a:p>
          <a:p>
            <a:endParaRPr lang="en-US" altLang="zh-CN" dirty="0"/>
          </a:p>
          <a:p>
            <a:r>
              <a:rPr lang="en-US" altLang="zh-CN" dirty="0"/>
              <a:t>4V  vs. 2.7V (500 oms loads)  -&gt; </a:t>
            </a:r>
            <a:r>
              <a:rPr lang="en-US" altLang="zh-CN" sz="2700" b="1" dirty="0">
                <a:solidFill>
                  <a:srgbClr val="C00000"/>
                </a:solidFill>
              </a:rPr>
              <a:t>32 </a:t>
            </a:r>
            <a:r>
              <a:rPr lang="en-US" altLang="zh-CN" sz="2700" b="1" dirty="0" err="1">
                <a:solidFill>
                  <a:srgbClr val="C00000"/>
                </a:solidFill>
              </a:rPr>
              <a:t>mW</a:t>
            </a:r>
            <a:r>
              <a:rPr lang="en-US" altLang="zh-CN" sz="2700" b="1" dirty="0">
                <a:solidFill>
                  <a:srgbClr val="C00000"/>
                </a:solidFill>
              </a:rPr>
              <a:t> vs.14.6 </a:t>
            </a:r>
            <a:r>
              <a:rPr lang="en-US" altLang="zh-CN" sz="2700" b="1" dirty="0" err="1">
                <a:solidFill>
                  <a:srgbClr val="C00000"/>
                </a:solidFill>
              </a:rPr>
              <a:t>mW</a:t>
            </a:r>
            <a:endParaRPr lang="en-US" altLang="zh-CN" sz="2700" b="1" dirty="0">
              <a:solidFill>
                <a:srgbClr val="C00000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Repeater better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注意：</a:t>
            </a:r>
            <a:r>
              <a:rPr lang="zh-CN" altLang="en-US" dirty="0"/>
              <a:t> （</a:t>
            </a:r>
            <a:r>
              <a:rPr lang="en-US" altLang="zh-CN" dirty="0"/>
              <a:t>height 0cm </a:t>
            </a:r>
            <a:r>
              <a:rPr lang="zh-CN" altLang="en-US" dirty="0"/>
              <a:t>和 </a:t>
            </a:r>
            <a:r>
              <a:rPr lang="en-US" altLang="zh-CN" dirty="0"/>
              <a:t>3cm</a:t>
            </a:r>
            <a:r>
              <a:rPr lang="zh-CN" altLang="en-US" dirty="0"/>
              <a:t>（向下高度）</a:t>
            </a:r>
            <a:r>
              <a:rPr lang="en-US" altLang="zh-CN" dirty="0"/>
              <a:t>4V</a:t>
            </a:r>
            <a:r>
              <a:rPr lang="zh-CN" altLang="en-US" dirty="0"/>
              <a:t>， </a:t>
            </a:r>
            <a:r>
              <a:rPr lang="en-US" altLang="zh-CN" dirty="0"/>
              <a:t>4.5cm -》3.7V</a:t>
            </a:r>
            <a:r>
              <a:rPr lang="zh-CN" altLang="en-US" dirty="0"/>
              <a:t>；向上高度 </a:t>
            </a:r>
            <a:r>
              <a:rPr lang="en-US" altLang="zh-CN" dirty="0"/>
              <a:t>5cm-》3.1V </a:t>
            </a:r>
            <a:r>
              <a:rPr lang="zh-CN" altLang="en-US" dirty="0"/>
              <a:t>）；同时发现对于一定高度下，中心的功率更大，而周围的相对减弱 例如 </a:t>
            </a:r>
            <a:r>
              <a:rPr lang="en-US" altLang="zh-CN" dirty="0"/>
              <a:t>3.1V </a:t>
            </a:r>
            <a:r>
              <a:rPr lang="zh-CN" altLang="en-US" dirty="0"/>
              <a:t>（中心）</a:t>
            </a:r>
            <a:r>
              <a:rPr lang="en-US" altLang="zh-CN" dirty="0"/>
              <a:t>-&gt; 2.7V </a:t>
            </a:r>
            <a:r>
              <a:rPr lang="zh-CN" altLang="en-US" dirty="0"/>
              <a:t>（向边缘移动</a:t>
            </a:r>
            <a:r>
              <a:rPr lang="en-US" altLang="zh-CN" dirty="0"/>
              <a:t>5cm</a:t>
            </a:r>
            <a:r>
              <a:rPr lang="zh-CN" altLang="en-US" dirty="0"/>
              <a:t>）；也就是说在某一个高度上，其磁场会表现的特别均匀；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517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9CF76-DB9D-297F-A31E-8DBA8B49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Repeater Tx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188EC73-7283-2A56-9E3A-962CEBE0C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719516"/>
              </p:ext>
            </p:extLst>
          </p:nvPr>
        </p:nvGraphicFramePr>
        <p:xfrm>
          <a:off x="91440" y="1353432"/>
          <a:ext cx="12024361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899">
                  <a:extLst>
                    <a:ext uri="{9D8B030D-6E8A-4147-A177-3AD203B41FA5}">
                      <a16:colId xmlns:a16="http://schemas.microsoft.com/office/drawing/2014/main" val="3526710054"/>
                    </a:ext>
                  </a:extLst>
                </a:gridCol>
                <a:gridCol w="1660020">
                  <a:extLst>
                    <a:ext uri="{9D8B030D-6E8A-4147-A177-3AD203B41FA5}">
                      <a16:colId xmlns:a16="http://schemas.microsoft.com/office/drawing/2014/main" val="3113927935"/>
                    </a:ext>
                  </a:extLst>
                </a:gridCol>
                <a:gridCol w="1746254">
                  <a:extLst>
                    <a:ext uri="{9D8B030D-6E8A-4147-A177-3AD203B41FA5}">
                      <a16:colId xmlns:a16="http://schemas.microsoft.com/office/drawing/2014/main" val="2425186694"/>
                    </a:ext>
                  </a:extLst>
                </a:gridCol>
                <a:gridCol w="3503287">
                  <a:extLst>
                    <a:ext uri="{9D8B030D-6E8A-4147-A177-3AD203B41FA5}">
                      <a16:colId xmlns:a16="http://schemas.microsoft.com/office/drawing/2014/main" val="3696280068"/>
                    </a:ext>
                  </a:extLst>
                </a:gridCol>
                <a:gridCol w="2817901">
                  <a:extLst>
                    <a:ext uri="{9D8B030D-6E8A-4147-A177-3AD203B41FA5}">
                      <a16:colId xmlns:a16="http://schemas.microsoft.com/office/drawing/2014/main" val="1339109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Distance between Re-Tx  (6.78MHz)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Repeater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Transferred power (12*15mm) </a:t>
                      </a:r>
                      <a:r>
                        <a:rPr lang="en-US" altLang="zh-CN" sz="1200" dirty="0" err="1"/>
                        <a:t>centre</a:t>
                      </a:r>
                      <a:r>
                        <a:rPr lang="en-US" altLang="zh-CN" sz="1200" dirty="0"/>
                        <a:t> 500oms loads RF 10W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dBm (near side)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117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20 cm</a:t>
                      </a:r>
                      <a:endParaRPr lang="zh-CN" altLang="en-US" sz="1200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altLang="zh-CN" sz="1200" dirty="0"/>
                        <a:t>3-turns 2mm interval</a:t>
                      </a:r>
                      <a:endParaRPr lang="zh-CN" altLang="en-US" sz="1200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altLang="zh-CN" sz="1200" dirty="0"/>
                        <a:t>2-turns 2mm interval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3.1V (6.78MHz) </a:t>
                      </a:r>
                    </a:p>
                    <a:p>
                      <a:r>
                        <a:rPr lang="en-US" altLang="zh-CN" sz="1200" dirty="0"/>
                        <a:t>2.8V (6.68MHz) </a:t>
                      </a:r>
                    </a:p>
                    <a:p>
                      <a:r>
                        <a:rPr lang="en-US" altLang="zh-CN" sz="1200" dirty="0"/>
                        <a:t>3.03V (6.88MHz)</a:t>
                      </a:r>
                    </a:p>
                    <a:p>
                      <a:r>
                        <a:rPr lang="en-US" altLang="zh-CN" sz="1200" dirty="0"/>
                        <a:t>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RF 6W (6.78MHz)-&gt; Tx (-10~-11dBm)-&gt; Repeater (-4~-5dBm)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832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10 cm</a:t>
                      </a:r>
                      <a:endParaRPr lang="zh-CN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3.4V  (3.66V </a:t>
                      </a:r>
                      <a:r>
                        <a:rPr lang="zh-CN" altLang="en-US" sz="1200" dirty="0"/>
                        <a:t>：刚上电的时候可以达到 </a:t>
                      </a:r>
                      <a:r>
                        <a:rPr lang="en-US" altLang="zh-CN" sz="1200" dirty="0"/>
                        <a:t>3.66V</a:t>
                      </a:r>
                      <a:r>
                        <a:rPr lang="zh-CN" altLang="en-US" sz="1200" dirty="0"/>
                        <a:t>，随着时间推移，发射的功率逐渐降低，可能由于</a:t>
                      </a:r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匹配电容发热</a:t>
                      </a:r>
                      <a:r>
                        <a:rPr lang="zh-CN" altLang="en-US" sz="1200" dirty="0"/>
                        <a:t>导致的损耗增加和谐振漂移，匹配网络</a:t>
                      </a:r>
                      <a:r>
                        <a:rPr lang="en-US" altLang="zh-CN" sz="1200" dirty="0"/>
                        <a:t>Q</a:t>
                      </a:r>
                      <a:r>
                        <a:rPr lang="zh-CN" altLang="en-US" sz="1200" dirty="0"/>
                        <a:t>值可能还是不够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（</a:t>
                      </a:r>
                      <a:r>
                        <a:rPr lang="zh-CN" altLang="en-US" sz="1200" b="1" dirty="0"/>
                        <a:t>在使用匹配电容找到最佳电容值后，使用相同容值的空气电容来长期使用，避免发热问题导致电容值变化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49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0 cm</a:t>
                      </a:r>
                      <a:endParaRPr lang="zh-CN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b="1" i="1" dirty="0">
                          <a:solidFill>
                            <a:srgbClr val="0070C0"/>
                          </a:solidFill>
                        </a:rPr>
                        <a:t>2.4V </a:t>
                      </a:r>
                      <a:r>
                        <a:rPr lang="zh-CN" altLang="en-US" sz="1200" b="1" i="1" dirty="0">
                          <a:solidFill>
                            <a:srgbClr val="0070C0"/>
                          </a:solidFill>
                        </a:rPr>
                        <a:t>（不清楚是不是谐振没匹配原因）</a:t>
                      </a:r>
                      <a:r>
                        <a:rPr lang="zh-CN" alt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49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5 cm</a:t>
                      </a:r>
                      <a:endParaRPr lang="zh-CN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3.5V 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44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30 cm </a:t>
                      </a:r>
                      <a:r>
                        <a:rPr lang="zh-CN" altLang="en-US" sz="1200" dirty="0"/>
                        <a:t>（两个</a:t>
                      </a:r>
                      <a:r>
                        <a:rPr lang="en-US" altLang="zh-CN" sz="1200" dirty="0"/>
                        <a:t>Tx</a:t>
                      </a:r>
                      <a:r>
                        <a:rPr lang="zh-CN" altLang="en-US" sz="1200" dirty="0"/>
                        <a:t>线圈开始显著互相影响的距离，</a:t>
                      </a:r>
                      <a:r>
                        <a:rPr lang="en-US" altLang="zh-CN" sz="1200" dirty="0"/>
                        <a:t>K &gt;&gt; 0</a:t>
                      </a:r>
                      <a:r>
                        <a:rPr lang="zh-CN" altLang="en-US" sz="1200" dirty="0"/>
                        <a:t>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83201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zh-CN" altLang="en-US" sz="1200" dirty="0"/>
                        <a:t>在</a:t>
                      </a:r>
                      <a:r>
                        <a:rPr lang="en-US" altLang="zh-CN" sz="1200" dirty="0"/>
                        <a:t>30cm </a:t>
                      </a:r>
                      <a:r>
                        <a:rPr lang="zh-CN" altLang="en-US" sz="1200" dirty="0"/>
                        <a:t>以内，通过调整匹配电容，可以始终让</a:t>
                      </a:r>
                      <a:r>
                        <a:rPr lang="en-US" altLang="zh-CN" sz="1200" dirty="0"/>
                        <a:t>Repeater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coil</a:t>
                      </a:r>
                      <a:r>
                        <a:rPr lang="zh-CN" altLang="en-US" sz="1200" dirty="0"/>
                        <a:t>的引入保持在差不多的传输功率增益水平上（</a:t>
                      </a:r>
                      <a:r>
                        <a:rPr lang="en-US" altLang="zh-CN" sz="1200" dirty="0"/>
                        <a:t>biased Repeater</a:t>
                      </a:r>
                      <a:r>
                        <a:rPr lang="zh-CN" altLang="en-US" sz="1200" dirty="0"/>
                        <a:t>，无须寻找一个最好的距离，但如果两个线圈耦合过于强，趋近</a:t>
                      </a:r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可能导致匹配电容调谐方法失败，需要改变发射频率）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912204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zh-CN" altLang="en-US" sz="1200" dirty="0"/>
                        <a:t>更大的线圈匝的间距可以带来相对更均匀的磁场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7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477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82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467769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27AAEA0E-E087-224D-8E6D-EC8444592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653" y="65782"/>
            <a:ext cx="965549" cy="12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4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34EE9B-95D2-E0CF-385A-BE546863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14540E59-A19E-4E76-FAAF-68E562842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46424" y="-968677"/>
            <a:ext cx="6598763" cy="880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86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167BF-8BCC-D58A-1023-44D98958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15660E1-6C9F-7BE8-229D-9F91F21D0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9" y="98425"/>
            <a:ext cx="5606067" cy="4203729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26CF70-26AE-239C-AD0D-BD7520FA5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587" y="831850"/>
            <a:ext cx="2790012" cy="372074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1EFB145-CCB0-BD34-0671-5702F4FE9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721" y="44450"/>
            <a:ext cx="32628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1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7F0D6-C288-1E61-5E88-2DB8C36F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7395E3C2-85B6-0384-3D3E-72B69A9BE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097269"/>
              </p:ext>
            </p:extLst>
          </p:nvPr>
        </p:nvGraphicFramePr>
        <p:xfrm>
          <a:off x="915186" y="942975"/>
          <a:ext cx="10514816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460">
                  <a:extLst>
                    <a:ext uri="{9D8B030D-6E8A-4147-A177-3AD203B41FA5}">
                      <a16:colId xmlns:a16="http://schemas.microsoft.com/office/drawing/2014/main" val="1765521821"/>
                    </a:ext>
                  </a:extLst>
                </a:gridCol>
                <a:gridCol w="2221104">
                  <a:extLst>
                    <a:ext uri="{9D8B030D-6E8A-4147-A177-3AD203B41FA5}">
                      <a16:colId xmlns:a16="http://schemas.microsoft.com/office/drawing/2014/main" val="68331344"/>
                    </a:ext>
                  </a:extLst>
                </a:gridCol>
                <a:gridCol w="1985074">
                  <a:extLst>
                    <a:ext uri="{9D8B030D-6E8A-4147-A177-3AD203B41FA5}">
                      <a16:colId xmlns:a16="http://schemas.microsoft.com/office/drawing/2014/main" val="1208054105"/>
                    </a:ext>
                  </a:extLst>
                </a:gridCol>
                <a:gridCol w="3037776">
                  <a:extLst>
                    <a:ext uri="{9D8B030D-6E8A-4147-A177-3AD203B41FA5}">
                      <a16:colId xmlns:a16="http://schemas.microsoft.com/office/drawing/2014/main" val="246147592"/>
                    </a:ext>
                  </a:extLst>
                </a:gridCol>
                <a:gridCol w="1168402">
                  <a:extLst>
                    <a:ext uri="{9D8B030D-6E8A-4147-A177-3AD203B41FA5}">
                      <a16:colId xmlns:a16="http://schemas.microsoft.com/office/drawing/2014/main" val="4205233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Tx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6.78MHz 10W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Repeater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Distances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Tx - Repeater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Transferred power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 err="1"/>
                        <a:t>centre</a:t>
                      </a:r>
                      <a:r>
                        <a:rPr lang="en-US" altLang="zh-CN" dirty="0"/>
                        <a:t> 12*20mm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635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3-turns 2mm interval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2-turns 2mm interval</a:t>
                      </a:r>
                      <a:endParaRPr lang="zh-CN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32mW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2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3-turns 2mm interval</a:t>
                      </a:r>
                      <a:endParaRPr lang="zh-CN" altLang="en-US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3-turns 4mm interval</a:t>
                      </a:r>
                      <a:endParaRPr lang="zh-CN" altLang="zh-CN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~50mW</a:t>
                      </a:r>
                      <a:endParaRPr lang="zh-CN" altLang="en-US" dirty="0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r>
                        <a:rPr lang="zh-CN" altLang="en-US" dirty="0"/>
                        <a:t>使用空气电容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99081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3-turns 4mm interval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~50 </a:t>
                      </a:r>
                      <a:r>
                        <a:rPr lang="en-US" altLang="zh-CN" dirty="0" err="1"/>
                        <a:t>mW</a:t>
                      </a:r>
                      <a:r>
                        <a:rPr lang="en-US" altLang="zh-CN" dirty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7553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~30 </a:t>
                      </a:r>
                      <a:r>
                        <a:rPr lang="en-US" altLang="zh-CN" dirty="0" err="1"/>
                        <a:t>mW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12*15mm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6343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/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10 cm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~40 </a:t>
                      </a:r>
                      <a:r>
                        <a:rPr lang="en-US" altLang="zh-CN" b="1" dirty="0" err="1">
                          <a:solidFill>
                            <a:srgbClr val="C00000"/>
                          </a:solidFill>
                        </a:rPr>
                        <a:t>mW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（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12*15mm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）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【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边缘 最大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&gt; 128mW】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6447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~32 </a:t>
                      </a:r>
                      <a:r>
                        <a:rPr lang="en-US" altLang="zh-CN" dirty="0" err="1"/>
                        <a:t>mW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12 * 15mm </a:t>
                      </a:r>
                      <a:r>
                        <a:rPr lang="zh-CN" altLang="en-US" dirty="0"/>
                        <a:t>不太稳定，调谐难度大）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3545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zh-CN" b="1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15 cm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~50 </a:t>
                      </a:r>
                      <a:r>
                        <a:rPr lang="en-US" altLang="zh-CN" b="1" dirty="0" err="1">
                          <a:solidFill>
                            <a:srgbClr val="C00000"/>
                          </a:solidFill>
                        </a:rPr>
                        <a:t>mW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 12*15mm</a:t>
                      </a:r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(PA </a:t>
                      </a:r>
                      <a:r>
                        <a:rPr lang="zh-CN" altLang="en-US" sz="1100" b="1" dirty="0">
                          <a:solidFill>
                            <a:srgbClr val="C00000"/>
                          </a:solidFill>
                        </a:rPr>
                        <a:t>发热到</a:t>
                      </a:r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100</a:t>
                      </a:r>
                      <a:r>
                        <a:rPr lang="zh-CN" altLang="en-US" sz="1100" b="1" dirty="0">
                          <a:solidFill>
                            <a:srgbClr val="C00000"/>
                          </a:solidFill>
                        </a:rPr>
                        <a:t>度以上，电流达到</a:t>
                      </a:r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1.5A</a:t>
                      </a:r>
                      <a:r>
                        <a:rPr lang="zh-CN" altLang="en-US" sz="1100" b="1" dirty="0">
                          <a:solidFill>
                            <a:srgbClr val="C00000"/>
                          </a:solidFill>
                        </a:rPr>
                        <a:t>，在其他情况直流电流都为</a:t>
                      </a:r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1A</a:t>
                      </a:r>
                      <a:r>
                        <a:rPr lang="zh-CN" altLang="en-US" sz="1100" b="1" dirty="0">
                          <a:solidFill>
                            <a:srgbClr val="C00000"/>
                          </a:solidFill>
                        </a:rPr>
                        <a:t>左右</a:t>
                      </a:r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) </a:t>
                      </a:r>
                      <a:r>
                        <a:rPr lang="zh-CN" altLang="en-US" sz="1100" b="1" dirty="0">
                          <a:solidFill>
                            <a:srgbClr val="C00000"/>
                          </a:solidFill>
                        </a:rPr>
                        <a:t>说明这个时候已经是设备能长期工作的极限了 （通过加风扇可以大幅减低发热到</a:t>
                      </a:r>
                      <a:r>
                        <a:rPr lang="en-US" altLang="zh-CN" sz="1100" b="1" dirty="0">
                          <a:solidFill>
                            <a:srgbClr val="C00000"/>
                          </a:solidFill>
                        </a:rPr>
                        <a:t>50</a:t>
                      </a:r>
                      <a:r>
                        <a:rPr lang="zh-CN" altLang="en-US" sz="1100" b="1">
                          <a:solidFill>
                            <a:srgbClr val="C00000"/>
                          </a:solidFill>
                        </a:rPr>
                        <a:t>度以下）</a:t>
                      </a:r>
                      <a:endParaRPr lang="zh-CN" altLang="en-US" sz="11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0201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r>
                        <a:rPr lang="zh-CN" altLang="en-US" dirty="0"/>
                        <a:t>注意：</a:t>
                      </a:r>
                      <a:r>
                        <a:rPr lang="zh-CN" altLang="en-US" b="1" dirty="0"/>
                        <a:t>一定要使用空气电容</a:t>
                      </a:r>
                      <a:r>
                        <a:rPr lang="zh-CN" altLang="en-US" dirty="0"/>
                        <a:t>；可调的电容损耗太大导致能量降低，同时不会发热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081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13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AC628-CA9E-07C5-0D80-50F4D99D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D78BD29-17D0-E14F-4379-D0A89BE54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702942"/>
              </p:ext>
            </p:extLst>
          </p:nvPr>
        </p:nvGraphicFramePr>
        <p:xfrm>
          <a:off x="495300" y="819785"/>
          <a:ext cx="11303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>
                  <a:extLst>
                    <a:ext uri="{9D8B030D-6E8A-4147-A177-3AD203B41FA5}">
                      <a16:colId xmlns:a16="http://schemas.microsoft.com/office/drawing/2014/main" val="1211692898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465386008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668310585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418117007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16137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Tx + 2 Repeaters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Distances Tx – Re1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Distances Re1 – Re2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Power Re1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Power Re2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780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3-turns 4mm interval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 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 10 </a:t>
                      </a:r>
                      <a:r>
                        <a:rPr lang="en-US" altLang="zh-CN" dirty="0" err="1"/>
                        <a:t>mW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&lt; 10 </a:t>
                      </a:r>
                      <a:r>
                        <a:rPr lang="en-US" altLang="zh-CN" dirty="0" err="1"/>
                        <a:t>mW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03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12*15mm </a:t>
                      </a:r>
                      <a:r>
                        <a:rPr lang="en-US" altLang="zh-CN" dirty="0" err="1"/>
                        <a:t>centre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702231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zh-CN" altLang="en-US" dirty="0"/>
                        <a:t>多个线圈 不太稳定； 频率分裂太多，轻微的波动就会导致 调谐失败，难以使用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589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62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887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378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DA289-A188-22FA-AD04-A241DDE7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C3B730-844D-07AE-3355-FC858547E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无线传输系统 </a:t>
            </a:r>
            <a:endParaRPr lang="en-US" altLang="zh-CN" b="1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6.78MHz</a:t>
            </a:r>
            <a:r>
              <a:rPr lang="zh-CN" altLang="en-US" dirty="0"/>
              <a:t> </a:t>
            </a:r>
            <a:r>
              <a:rPr lang="en-US" altLang="zh-CN" dirty="0"/>
              <a:t>Tx </a:t>
            </a:r>
            <a:r>
              <a:rPr lang="zh-CN" altLang="en-US" dirty="0"/>
              <a:t>驱动 </a:t>
            </a:r>
            <a:r>
              <a:rPr lang="en-US" altLang="zh-CN" dirty="0"/>
              <a:t>2~3 </a:t>
            </a:r>
            <a:r>
              <a:rPr lang="zh-CN" altLang="en-US" dirty="0"/>
              <a:t>个 </a:t>
            </a:r>
            <a:r>
              <a:rPr lang="en-US" altLang="zh-CN" dirty="0"/>
              <a:t>repeaters </a:t>
            </a:r>
            <a:r>
              <a:rPr lang="zh-CN" altLang="en-US" dirty="0"/>
              <a:t>线圈（间距需要</a:t>
            </a:r>
            <a:r>
              <a:rPr lang="en-US" altLang="zh-CN" dirty="0"/>
              <a:t>&gt;= 20cm</a:t>
            </a:r>
            <a:r>
              <a:rPr lang="zh-CN" altLang="en-US" dirty="0"/>
              <a:t>）， 单笼饲养 </a:t>
            </a:r>
            <a:r>
              <a:rPr lang="en-US" altLang="zh-CN" dirty="0"/>
              <a:t>2~3</a:t>
            </a:r>
            <a:r>
              <a:rPr lang="zh-CN" altLang="en-US" dirty="0"/>
              <a:t>只小鼠</a:t>
            </a:r>
            <a:endParaRPr lang="en-US" altLang="zh-CN" dirty="0"/>
          </a:p>
          <a:p>
            <a:pPr lvl="1"/>
            <a:r>
              <a:rPr lang="zh-CN" altLang="en-US" dirty="0"/>
              <a:t>重新使用</a:t>
            </a:r>
            <a:r>
              <a:rPr lang="en-US" altLang="zh-CN" dirty="0"/>
              <a:t>12*20mm</a:t>
            </a:r>
            <a:r>
              <a:rPr lang="zh-CN" altLang="en-US" dirty="0"/>
              <a:t>线圈并加入电容 </a:t>
            </a:r>
            <a:r>
              <a:rPr lang="en-US" altLang="zh-CN" dirty="0"/>
              <a:t>bank</a:t>
            </a:r>
          </a:p>
          <a:p>
            <a:pPr lvl="1"/>
            <a:r>
              <a:rPr lang="en-US" altLang="zh-CN" dirty="0"/>
              <a:t>Tx 6.78MHz + 1</a:t>
            </a:r>
            <a:r>
              <a:rPr lang="zh-CN" altLang="en-US" dirty="0"/>
              <a:t>个</a:t>
            </a:r>
            <a:r>
              <a:rPr lang="en-US" altLang="zh-CN" dirty="0"/>
              <a:t>repeater </a:t>
            </a:r>
            <a:r>
              <a:rPr lang="zh-CN" altLang="en-US" dirty="0"/>
              <a:t>线圈，两个线圈之间距离为</a:t>
            </a:r>
            <a:r>
              <a:rPr lang="en-US" altLang="zh-CN" dirty="0"/>
              <a:t>10cm</a:t>
            </a:r>
            <a:r>
              <a:rPr lang="zh-CN" altLang="en-US" dirty="0"/>
              <a:t>以内，单笼配套使用</a:t>
            </a:r>
            <a:endParaRPr lang="en-US" altLang="zh-CN" dirty="0"/>
          </a:p>
          <a:p>
            <a:pPr lvl="1"/>
            <a:r>
              <a:rPr lang="zh-CN" altLang="en-US" dirty="0"/>
              <a:t>中心功率 </a:t>
            </a:r>
            <a:r>
              <a:rPr lang="en-US" altLang="zh-CN" dirty="0"/>
              <a:t>~50mW</a:t>
            </a:r>
          </a:p>
        </p:txBody>
      </p:sp>
    </p:spTree>
    <p:extLst>
      <p:ext uri="{BB962C8B-B14F-4D97-AF65-F5344CB8AC3E}">
        <p14:creationId xmlns:p14="http://schemas.microsoft.com/office/powerpoint/2010/main" val="2374042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3E804-8F8F-7098-D82F-49AEA930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0DD553-EA15-AD6C-ADE6-3FC5647E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16</a:t>
            </a:r>
            <a:r>
              <a:rPr lang="zh-CN" altLang="en-US" dirty="0"/>
              <a:t>通道版本 </a:t>
            </a:r>
            <a:r>
              <a:rPr lang="en-US" altLang="zh-CN" dirty="0"/>
              <a:t>bq25176 </a:t>
            </a:r>
            <a:r>
              <a:rPr lang="zh-CN" altLang="en-US" dirty="0"/>
              <a:t>电池充电测试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41DCB33-874F-E34A-6009-9E66A0ADB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219815"/>
              </p:ext>
            </p:extLst>
          </p:nvPr>
        </p:nvGraphicFramePr>
        <p:xfrm>
          <a:off x="234950" y="2262716"/>
          <a:ext cx="1140460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767">
                  <a:extLst>
                    <a:ext uri="{9D8B030D-6E8A-4147-A177-3AD203B41FA5}">
                      <a16:colId xmlns:a16="http://schemas.microsoft.com/office/drawing/2014/main" val="3069962839"/>
                    </a:ext>
                  </a:extLst>
                </a:gridCol>
                <a:gridCol w="1900767">
                  <a:extLst>
                    <a:ext uri="{9D8B030D-6E8A-4147-A177-3AD203B41FA5}">
                      <a16:colId xmlns:a16="http://schemas.microsoft.com/office/drawing/2014/main" val="3246174549"/>
                    </a:ext>
                  </a:extLst>
                </a:gridCol>
                <a:gridCol w="1900767">
                  <a:extLst>
                    <a:ext uri="{9D8B030D-6E8A-4147-A177-3AD203B41FA5}">
                      <a16:colId xmlns:a16="http://schemas.microsoft.com/office/drawing/2014/main" val="1561063528"/>
                    </a:ext>
                  </a:extLst>
                </a:gridCol>
                <a:gridCol w="1900767">
                  <a:extLst>
                    <a:ext uri="{9D8B030D-6E8A-4147-A177-3AD203B41FA5}">
                      <a16:colId xmlns:a16="http://schemas.microsoft.com/office/drawing/2014/main" val="2926230235"/>
                    </a:ext>
                  </a:extLst>
                </a:gridCol>
                <a:gridCol w="1900767">
                  <a:extLst>
                    <a:ext uri="{9D8B030D-6E8A-4147-A177-3AD203B41FA5}">
                      <a16:colId xmlns:a16="http://schemas.microsoft.com/office/drawing/2014/main" val="3324004079"/>
                    </a:ext>
                  </a:extLst>
                </a:gridCol>
                <a:gridCol w="1900767">
                  <a:extLst>
                    <a:ext uri="{9D8B030D-6E8A-4147-A177-3AD203B41FA5}">
                      <a16:colId xmlns:a16="http://schemas.microsoft.com/office/drawing/2014/main" val="3858434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Tx</a:t>
                      </a:r>
                    </a:p>
                    <a:p>
                      <a:r>
                        <a:rPr lang="en-US" altLang="zh-CN" dirty="0"/>
                        <a:t>RF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10W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Transferred power (edges)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Battery capacity</a:t>
                      </a:r>
                    </a:p>
                    <a:p>
                      <a:r>
                        <a:rPr lang="en-US" altLang="zh-CN" dirty="0"/>
                        <a:t>(</a:t>
                      </a:r>
                      <a:r>
                        <a:rPr lang="en-US" altLang="zh-CN" dirty="0" err="1"/>
                        <a:t>mAh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Charging time</a:t>
                      </a:r>
                    </a:p>
                    <a:p>
                      <a:r>
                        <a:rPr lang="en-US" altLang="zh-CN" dirty="0"/>
                        <a:t>(23%-&gt;90%)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6521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zh-CN" dirty="0"/>
                        <a:t>3-turns + 3-turns (15 cm)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dirty="0"/>
                        <a:t>12*15mm</a:t>
                      </a:r>
                      <a:endParaRPr lang="zh-CN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 channels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59899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 channels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4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214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897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22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18776</TotalTime>
  <Words>764</Words>
  <Application>Microsoft Office PowerPoint</Application>
  <PresentationFormat>宽屏</PresentationFormat>
  <Paragraphs>132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对比</vt:lpstr>
      <vt:lpstr>Repeater Tx</vt:lpstr>
      <vt:lpstr>PowerPoint 演示文稿</vt:lpstr>
      <vt:lpstr>PowerPoint 演示文稿</vt:lpstr>
      <vt:lpstr>PowerPoint 演示文稿</vt:lpstr>
      <vt:lpstr>、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65</cp:revision>
  <dcterms:created xsi:type="dcterms:W3CDTF">2025-09-08T09:40:05Z</dcterms:created>
  <dcterms:modified xsi:type="dcterms:W3CDTF">2025-09-21T10:41:30Z</dcterms:modified>
</cp:coreProperties>
</file>