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219F4-22BD-4F91-82D5-E5DC6CBFA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4011A6-D30E-4ECC-B7FF-B44A98188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4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1D182-CC17-43A9-9FC6-C43DF03A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9215F-E507-4446-8E1D-B5E8E2315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32404C-08AE-45B7-A135-159407FA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041" y="0"/>
            <a:ext cx="57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4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DDFDA39-B3C2-4F9A-8162-7EA4BABC0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5088" y="0"/>
            <a:ext cx="3442512" cy="4082185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47DF313-C3ED-E87D-4B40-C0B1A165F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740495"/>
              </p:ext>
            </p:extLst>
          </p:nvPr>
        </p:nvGraphicFramePr>
        <p:xfrm>
          <a:off x="263757" y="235216"/>
          <a:ext cx="5446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351">
                  <a:extLst>
                    <a:ext uri="{9D8B030D-6E8A-4147-A177-3AD203B41FA5}">
                      <a16:colId xmlns:a16="http://schemas.microsoft.com/office/drawing/2014/main" val="3134409862"/>
                    </a:ext>
                  </a:extLst>
                </a:gridCol>
                <a:gridCol w="2723351">
                  <a:extLst>
                    <a:ext uri="{9D8B030D-6E8A-4147-A177-3AD203B41FA5}">
                      <a16:colId xmlns:a16="http://schemas.microsoft.com/office/drawing/2014/main" val="3457075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位置 角落 </a:t>
                      </a:r>
                      <a:r>
                        <a:rPr lang="en-US" altLang="zh-CN" dirty="0"/>
                        <a:t>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最大能量 </a:t>
                      </a:r>
                      <a:r>
                        <a:rPr lang="en-US" altLang="zh-CN" dirty="0"/>
                        <a:t>128mW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30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Height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10mm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64.5mW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51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Height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20mm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24.1mW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140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Height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30mm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8.9mW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15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Height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40mm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3.7mW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34067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75443D8-4748-8E59-4C93-22D615282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62491"/>
              </p:ext>
            </p:extLst>
          </p:nvPr>
        </p:nvGraphicFramePr>
        <p:xfrm>
          <a:off x="263757" y="2397075"/>
          <a:ext cx="544670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3351">
                  <a:extLst>
                    <a:ext uri="{9D8B030D-6E8A-4147-A177-3AD203B41FA5}">
                      <a16:colId xmlns:a16="http://schemas.microsoft.com/office/drawing/2014/main" val="583207355"/>
                    </a:ext>
                  </a:extLst>
                </a:gridCol>
                <a:gridCol w="2723351">
                  <a:extLst>
                    <a:ext uri="{9D8B030D-6E8A-4147-A177-3AD203B41FA5}">
                      <a16:colId xmlns:a16="http://schemas.microsoft.com/office/drawing/2014/main" val="3762535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位置 角落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最大能量  </a:t>
                      </a:r>
                      <a:r>
                        <a:rPr lang="en-US" altLang="zh-CN" dirty="0"/>
                        <a:t>128mW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84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Angle</a:t>
                      </a:r>
                      <a:r>
                        <a:rPr lang="zh-CN" altLang="en-US" dirty="0"/>
                        <a:t>：</a:t>
                      </a:r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109.4mW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3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92.8mW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71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82.5mW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76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60.8mW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87349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5F39085-C7C7-D127-DAC8-A4941DE1B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918077"/>
              </p:ext>
            </p:extLst>
          </p:nvPr>
        </p:nvGraphicFramePr>
        <p:xfrm>
          <a:off x="263757" y="4510490"/>
          <a:ext cx="56707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5380">
                  <a:extLst>
                    <a:ext uri="{9D8B030D-6E8A-4147-A177-3AD203B41FA5}">
                      <a16:colId xmlns:a16="http://schemas.microsoft.com/office/drawing/2014/main" val="1740759214"/>
                    </a:ext>
                  </a:extLst>
                </a:gridCol>
                <a:gridCol w="2835380">
                  <a:extLst>
                    <a:ext uri="{9D8B030D-6E8A-4147-A177-3AD203B41FA5}">
                      <a16:colId xmlns:a16="http://schemas.microsoft.com/office/drawing/2014/main" val="251556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位置  高度</a:t>
                      </a:r>
                      <a:r>
                        <a:rPr lang="en-US" altLang="zh-CN" dirty="0"/>
                        <a:t>0 </a:t>
                      </a:r>
                      <a:r>
                        <a:rPr lang="zh-CN" altLang="en-US" dirty="0"/>
                        <a:t>角度</a:t>
                      </a:r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最大能量 </a:t>
                      </a:r>
                      <a:r>
                        <a:rPr lang="en-US" altLang="zh-CN" dirty="0"/>
                        <a:t>128mW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479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短边中间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78.8mW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095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长边中间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5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正中心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13.4mW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957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角落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128mW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44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副中心（上面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个点的中心）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25.5mW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9505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C3B46A3-A6D6-2D49-6A60-12AF2EF12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16900"/>
              </p:ext>
            </p:extLst>
          </p:nvPr>
        </p:nvGraphicFramePr>
        <p:xfrm>
          <a:off x="6010547" y="4144730"/>
          <a:ext cx="6336882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8317">
                  <a:extLst>
                    <a:ext uri="{9D8B030D-6E8A-4147-A177-3AD203B41FA5}">
                      <a16:colId xmlns:a16="http://schemas.microsoft.com/office/drawing/2014/main" val="1193400360"/>
                    </a:ext>
                  </a:extLst>
                </a:gridCol>
                <a:gridCol w="3148565">
                  <a:extLst>
                    <a:ext uri="{9D8B030D-6E8A-4147-A177-3AD203B41FA5}">
                      <a16:colId xmlns:a16="http://schemas.microsoft.com/office/drawing/2014/main" val="1967604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/>
                        <a:t>温度变化（空气，</a:t>
                      </a:r>
                      <a:r>
                        <a:rPr lang="en-US" altLang="zh-CN" dirty="0"/>
                        <a:t>25.5</a:t>
                      </a:r>
                      <a:r>
                        <a:rPr lang="zh-CN" altLang="en-US" dirty="0"/>
                        <a:t>度环境）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 （</a:t>
                      </a:r>
                      <a:r>
                        <a:rPr lang="en-US" altLang="zh-CN" dirty="0"/>
                        <a:t>50mW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03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29.8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28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28.8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r>
                        <a:rPr lang="zh-CN" altLang="en-US" dirty="0"/>
                        <a:t>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294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28.6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r>
                        <a:rPr lang="zh-CN" altLang="en-US" dirty="0"/>
                        <a:t>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6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28.9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r>
                        <a:rPr lang="zh-CN" altLang="en-US" dirty="0"/>
                        <a:t>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6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29.3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r>
                        <a:rPr lang="zh-CN" altLang="en-US" dirty="0"/>
                        <a:t>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46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31.5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</a:t>
                      </a:r>
                      <a:r>
                        <a:rPr lang="zh-CN" altLang="en-US" dirty="0"/>
                        <a:t>分钟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3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35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67F30-751C-4947-87EC-20F9944C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CF35F9D-D382-4A53-9D59-D95C955CC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6539" y="0"/>
            <a:ext cx="2808477" cy="3572256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6EF5133-FB96-BFCA-0ACA-9313324BD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414100"/>
              </p:ext>
            </p:extLst>
          </p:nvPr>
        </p:nvGraphicFramePr>
        <p:xfrm>
          <a:off x="256032" y="310896"/>
          <a:ext cx="6163056" cy="1997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528">
                  <a:extLst>
                    <a:ext uri="{9D8B030D-6E8A-4147-A177-3AD203B41FA5}">
                      <a16:colId xmlns:a16="http://schemas.microsoft.com/office/drawing/2014/main" val="2053382769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814982685"/>
                    </a:ext>
                  </a:extLst>
                </a:gridCol>
              </a:tblGrid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Mode2 </a:t>
                      </a:r>
                      <a:r>
                        <a:rPr lang="en-US" altLang="zh-CN" dirty="0" err="1"/>
                        <a:t>esb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传输速率（</a:t>
                      </a:r>
                      <a:r>
                        <a:rPr lang="en-US" altLang="zh-CN" dirty="0"/>
                        <a:t>KB/s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距离</a:t>
                      </a:r>
                      <a:r>
                        <a:rPr lang="en-US" altLang="zh-CN" dirty="0"/>
                        <a:t>(cm) (</a:t>
                      </a:r>
                      <a:r>
                        <a:rPr lang="en-US" altLang="zh-CN" dirty="0" err="1"/>
                        <a:t>rssi</a:t>
                      </a:r>
                      <a:r>
                        <a:rPr lang="zh-CN" altLang="en-US" dirty="0"/>
                        <a:t>值保持一致多次测试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58288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160.21 (Max)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  (</a:t>
                      </a:r>
                      <a:r>
                        <a:rPr lang="en-US" altLang="zh-CN" dirty="0" err="1"/>
                        <a:t>rssi</a:t>
                      </a:r>
                      <a:r>
                        <a:rPr lang="en-US" altLang="zh-CN" dirty="0"/>
                        <a:t>: ~-60dbm)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2229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152.73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   (</a:t>
                      </a:r>
                      <a:r>
                        <a:rPr lang="en-US" altLang="zh-CN" dirty="0" err="1"/>
                        <a:t>rssi</a:t>
                      </a:r>
                      <a:r>
                        <a:rPr lang="en-US" altLang="zh-CN" dirty="0"/>
                        <a:t>: ~-68-dbm)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903234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92.84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 (</a:t>
                      </a:r>
                      <a:r>
                        <a:rPr lang="en-US" altLang="zh-CN" dirty="0" err="1"/>
                        <a:t>rssi</a:t>
                      </a:r>
                      <a:r>
                        <a:rPr lang="en-US" altLang="zh-CN" dirty="0"/>
                        <a:t>: ~-70dbm)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6793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A25386-6946-5C38-501A-920BBE70F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893876"/>
              </p:ext>
            </p:extLst>
          </p:nvPr>
        </p:nvGraphicFramePr>
        <p:xfrm>
          <a:off x="256032" y="2261616"/>
          <a:ext cx="6163056" cy="181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528">
                  <a:extLst>
                    <a:ext uri="{9D8B030D-6E8A-4147-A177-3AD203B41FA5}">
                      <a16:colId xmlns:a16="http://schemas.microsoft.com/office/drawing/2014/main" val="2053382769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814982685"/>
                    </a:ext>
                  </a:extLst>
                </a:gridCol>
              </a:tblGrid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Mode0 </a:t>
                      </a:r>
                      <a:r>
                        <a:rPr lang="en-US" altLang="zh-CN" dirty="0" err="1"/>
                        <a:t>esb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传输速率（</a:t>
                      </a:r>
                      <a:r>
                        <a:rPr lang="en-US" altLang="zh-CN" dirty="0"/>
                        <a:t>KB/s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距离</a:t>
                      </a:r>
                      <a:r>
                        <a:rPr lang="en-US" altLang="zh-CN" dirty="0"/>
                        <a:t>(cm)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58288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36.67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2229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36.03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903234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36.67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6793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E848C50-9479-ECF8-D60D-FC7268938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685802"/>
              </p:ext>
            </p:extLst>
          </p:nvPr>
        </p:nvGraphicFramePr>
        <p:xfrm>
          <a:off x="256032" y="4462272"/>
          <a:ext cx="6163056" cy="181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528">
                  <a:extLst>
                    <a:ext uri="{9D8B030D-6E8A-4147-A177-3AD203B41FA5}">
                      <a16:colId xmlns:a16="http://schemas.microsoft.com/office/drawing/2014/main" val="2053382769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814982685"/>
                    </a:ext>
                  </a:extLst>
                </a:gridCol>
              </a:tblGrid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Mode1 </a:t>
                      </a:r>
                      <a:r>
                        <a:rPr lang="en-US" altLang="zh-CN" dirty="0" err="1"/>
                        <a:t>esb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传输速率（</a:t>
                      </a:r>
                      <a:r>
                        <a:rPr lang="en-US" altLang="zh-CN" dirty="0"/>
                        <a:t>KB/s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距离</a:t>
                      </a:r>
                      <a:r>
                        <a:rPr lang="en-US" altLang="zh-CN" dirty="0"/>
                        <a:t>(cm)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58288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47.616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12229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47.55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903234"/>
                  </a:ext>
                </a:extLst>
              </a:tr>
              <a:tr h="452594">
                <a:tc>
                  <a:txBody>
                    <a:bodyPr/>
                    <a:lstStyle/>
                    <a:p>
                      <a:r>
                        <a:rPr lang="en-US" altLang="zh-CN" dirty="0"/>
                        <a:t>47.84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6793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FCC4F39-77C8-00B7-771D-1B721EEB4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57736"/>
              </p:ext>
            </p:extLst>
          </p:nvPr>
        </p:nvGraphicFramePr>
        <p:xfrm>
          <a:off x="6492240" y="3759200"/>
          <a:ext cx="5699760" cy="273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3392787636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35114913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r>
                        <a:rPr lang="zh-CN" altLang="en-US" dirty="0"/>
                        <a:t>功耗（</a:t>
                      </a:r>
                      <a:r>
                        <a:rPr lang="en-US" altLang="zh-CN" dirty="0" err="1"/>
                        <a:t>mW</a:t>
                      </a:r>
                      <a:r>
                        <a:rPr lang="en-US" altLang="zh-CN" dirty="0"/>
                        <a:t> 3.3V</a:t>
                      </a:r>
                      <a:r>
                        <a:rPr lang="zh-CN" altLang="en-US" dirty="0"/>
                        <a:t>）（</a:t>
                      </a:r>
                      <a:r>
                        <a:rPr lang="en-US" altLang="zh-CN" dirty="0"/>
                        <a:t>mA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62785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lang="en-US" altLang="zh-CN" dirty="0"/>
                        <a:t>2.1mA 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6.93mW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idle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834644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lang="en-US" altLang="zh-CN" dirty="0"/>
                        <a:t>4.5mA 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14.85mW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793116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lang="en-US" altLang="zh-CN" dirty="0"/>
                        <a:t>10.1mA (33.33mW)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669828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lang="en-US" altLang="zh-CN" dirty="0"/>
                        <a:t>13.1mA (43.23mW)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34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28DEB-067D-4928-A292-743C2FA0F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C70FA91-1E67-4067-A2D4-86767035C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0618" y="88278"/>
            <a:ext cx="5177408" cy="658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1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48546-50BC-417C-8570-46207773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D54400-3C1C-4487-A4F1-0F249DD64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/>
              <a:t>实验总结：“”</a:t>
            </a:r>
            <a:endParaRPr lang="en-US" altLang="zh-CN" sz="1600" dirty="0"/>
          </a:p>
          <a:p>
            <a:r>
              <a:rPr lang="en-US" altLang="zh-CN" sz="1600" dirty="0"/>
              <a:t>1.  </a:t>
            </a:r>
            <a:r>
              <a:rPr lang="zh-CN" altLang="en-US" sz="1600" dirty="0"/>
              <a:t>只要小鼠处于磁场中，即使使用电池供电，记录的噪声水平和小鼠运动噪声都会被放大，在使用无线电源的时候，</a:t>
            </a:r>
            <a:r>
              <a:rPr lang="en-US" altLang="zh-CN" sz="1600" dirty="0" err="1"/>
              <a:t>esb</a:t>
            </a:r>
            <a:r>
              <a:rPr lang="zh-CN" altLang="en-US" sz="1600" dirty="0"/>
              <a:t>发送导致的噪声会引入；目前使用加快</a:t>
            </a:r>
            <a:r>
              <a:rPr lang="en-US" altLang="zh-CN" sz="1600" dirty="0" err="1"/>
              <a:t>esb</a:t>
            </a:r>
            <a:r>
              <a:rPr lang="en-US" altLang="zh-CN" sz="1600" dirty="0"/>
              <a:t> </a:t>
            </a:r>
            <a:r>
              <a:rPr lang="zh-CN" altLang="en-US" sz="1600" dirty="0"/>
              <a:t>发送频率和放大器的带宽错开也许可以部分解决这个问题</a:t>
            </a:r>
            <a:endParaRPr lang="en-US" altLang="zh-CN" sz="1600" dirty="0"/>
          </a:p>
          <a:p>
            <a:r>
              <a:rPr lang="en-US" altLang="zh-CN" sz="1600" dirty="0"/>
              <a:t>2. </a:t>
            </a:r>
            <a:r>
              <a:rPr lang="zh-CN" altLang="en-US" sz="1600" dirty="0"/>
              <a:t>发射磁场的波动会引入明显的噪声；</a:t>
            </a:r>
            <a:endParaRPr lang="en-US" altLang="zh-CN" sz="1600" dirty="0"/>
          </a:p>
          <a:p>
            <a:r>
              <a:rPr lang="en-US" altLang="zh-CN" sz="1600" dirty="0"/>
              <a:t>3. </a:t>
            </a:r>
            <a:r>
              <a:rPr lang="zh-CN" altLang="en-US" sz="1600" dirty="0"/>
              <a:t>使用铜片 铁氧体在</a:t>
            </a:r>
            <a:r>
              <a:rPr lang="en-US" altLang="zh-CN" sz="1600" dirty="0" err="1"/>
              <a:t>headstage</a:t>
            </a:r>
            <a:r>
              <a:rPr lang="zh-CN" altLang="en-US" sz="1600" dirty="0"/>
              <a:t>下无明显作用</a:t>
            </a:r>
            <a:endParaRPr lang="en-US" altLang="zh-CN" sz="1600" dirty="0"/>
          </a:p>
          <a:p>
            <a:r>
              <a:rPr lang="en-US" altLang="zh-CN" sz="1600" dirty="0"/>
              <a:t>4. </a:t>
            </a:r>
            <a:r>
              <a:rPr lang="zh-CN" altLang="en-US" sz="1600" dirty="0"/>
              <a:t>小鼠在实际的生活中，腹部并不会保持水平（可能由于设备太大了），只有在走路的时候才可能保持水平；</a:t>
            </a:r>
            <a:endParaRPr lang="en-US" altLang="zh-CN" sz="1600" dirty="0"/>
          </a:p>
          <a:p>
            <a:r>
              <a:rPr lang="en-US" altLang="zh-CN" sz="1600" dirty="0"/>
              <a:t>5. </a:t>
            </a:r>
            <a:r>
              <a:rPr lang="zh-CN" altLang="en-US" sz="1600" dirty="0"/>
              <a:t>无线植入物失效 </a:t>
            </a:r>
            <a:r>
              <a:rPr lang="en-US" altLang="zh-CN" sz="1600" dirty="0"/>
              <a:t>5</a:t>
            </a:r>
            <a:r>
              <a:rPr lang="zh-CN" altLang="en-US" sz="1600" dirty="0"/>
              <a:t>天后（</a:t>
            </a:r>
            <a:r>
              <a:rPr lang="en-US" altLang="zh-CN" sz="1600" dirty="0"/>
              <a:t>1</a:t>
            </a:r>
            <a:r>
              <a:rPr lang="zh-CN" altLang="en-US" sz="1600" dirty="0"/>
              <a:t>天的记录），发现所有部分都完好，可能是失谐或者</a:t>
            </a:r>
            <a:r>
              <a:rPr lang="en-US" altLang="zh-CN" sz="1600" dirty="0"/>
              <a:t>led</a:t>
            </a:r>
            <a:r>
              <a:rPr lang="zh-CN" altLang="en-US" sz="1600" dirty="0"/>
              <a:t>部分出现问题（</a:t>
            </a:r>
            <a:r>
              <a:rPr lang="en-US" altLang="zh-CN" sz="1600" dirty="0"/>
              <a:t>1v</a:t>
            </a:r>
            <a:r>
              <a:rPr lang="zh-CN" altLang="en-US" sz="1600" dirty="0"/>
              <a:t>左右输出，在取出后，使用信号发生器测试有</a:t>
            </a:r>
            <a:r>
              <a:rPr lang="en-US" altLang="zh-CN" sz="1600" dirty="0"/>
              <a:t>5v</a:t>
            </a:r>
            <a:r>
              <a:rPr lang="zh-CN" altLang="en-US" sz="1600" dirty="0"/>
              <a:t>输出）</a:t>
            </a:r>
            <a:endParaRPr lang="en-US" altLang="zh-CN" sz="1600" dirty="0"/>
          </a:p>
          <a:p>
            <a:r>
              <a:rPr lang="en-US" altLang="zh-CN" sz="1600" dirty="0"/>
              <a:t>6. </a:t>
            </a:r>
            <a:r>
              <a:rPr lang="zh-CN" altLang="en-US" sz="1600" dirty="0"/>
              <a:t>小鼠在不动的时候，记录的信号在滤波后和去掉磁场后记录的信号也许可以做一个对比，只要其频谱在一个长时间范围内无显著差距也许可以；</a:t>
            </a:r>
            <a:endParaRPr lang="en-US" altLang="zh-CN" sz="1600" dirty="0"/>
          </a:p>
          <a:p>
            <a:r>
              <a:rPr lang="en-US" altLang="zh-CN" sz="1600" dirty="0"/>
              <a:t>7. </a:t>
            </a:r>
            <a:r>
              <a:rPr lang="zh-CN" altLang="en-US" sz="1600" dirty="0"/>
              <a:t>目前的</a:t>
            </a:r>
            <a:r>
              <a:rPr lang="en-US" altLang="zh-CN" sz="1600" dirty="0" err="1"/>
              <a:t>esb</a:t>
            </a:r>
            <a:r>
              <a:rPr lang="en-US" altLang="zh-CN" sz="1600" dirty="0"/>
              <a:t> </a:t>
            </a:r>
            <a:r>
              <a:rPr lang="zh-CN" altLang="en-US" sz="1600" dirty="0"/>
              <a:t>发送的丢包率可以控制的很低基本不丢包；综上所需要解决的就是充电的时候噪声问题；计划：</a:t>
            </a:r>
            <a:r>
              <a:rPr lang="en-US" altLang="zh-CN" sz="1600" dirty="0"/>
              <a:t>1. </a:t>
            </a:r>
            <a:r>
              <a:rPr lang="zh-CN" altLang="en-US" sz="1600" dirty="0"/>
              <a:t>使用现用的植入电极的鼠，植入一个无线充电物</a:t>
            </a:r>
            <a:r>
              <a:rPr lang="en-US" altLang="zh-CN" sz="1600" dirty="0"/>
              <a:t>2. </a:t>
            </a:r>
            <a:r>
              <a:rPr lang="zh-CN" altLang="en-US" sz="1600" dirty="0"/>
              <a:t>植入前，测试好</a:t>
            </a:r>
            <a:r>
              <a:rPr lang="en-US" altLang="zh-CN" sz="1600" dirty="0"/>
              <a:t>fig2,3</a:t>
            </a:r>
            <a:r>
              <a:rPr lang="zh-CN" altLang="en-US" sz="1600" dirty="0"/>
              <a:t>的图</a:t>
            </a:r>
            <a:r>
              <a:rPr lang="en-US" altLang="zh-CN" sz="1600" dirty="0"/>
              <a:t>3. </a:t>
            </a:r>
            <a:r>
              <a:rPr lang="zh-CN" altLang="en-US" sz="1600" dirty="0"/>
              <a:t>对比测试小鼠在</a:t>
            </a:r>
            <a:r>
              <a:rPr lang="en-US" altLang="zh-CN" sz="1600" dirty="0"/>
              <a:t>1</a:t>
            </a:r>
            <a:r>
              <a:rPr lang="zh-CN" altLang="en-US" sz="1600" dirty="0"/>
              <a:t>小时过程中，磁场环境有无的不同频谱的差异；</a:t>
            </a:r>
            <a:r>
              <a:rPr lang="en-US" altLang="zh-CN" sz="1600" dirty="0"/>
              <a:t>4. </a:t>
            </a:r>
            <a:r>
              <a:rPr lang="zh-CN" altLang="en-US" sz="1600" dirty="0"/>
              <a:t>只记录一天的长时间数据即可；</a:t>
            </a:r>
          </a:p>
        </p:txBody>
      </p:sp>
    </p:spTree>
    <p:extLst>
      <p:ext uri="{BB962C8B-B14F-4D97-AF65-F5344CB8AC3E}">
        <p14:creationId xmlns:p14="http://schemas.microsoft.com/office/powerpoint/2010/main" val="94332088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517</Words>
  <Application>Microsoft Office PowerPoint</Application>
  <PresentationFormat>宽屏</PresentationFormat>
  <Paragraphs>89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win10</dc:creator>
  <cp:lastModifiedBy>Administrator</cp:lastModifiedBy>
  <cp:revision>24</cp:revision>
  <dcterms:created xsi:type="dcterms:W3CDTF">2023-08-09T12:44:55Z</dcterms:created>
  <dcterms:modified xsi:type="dcterms:W3CDTF">2025-05-20T05:36:59Z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